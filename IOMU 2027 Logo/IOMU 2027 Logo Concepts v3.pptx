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4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F4E9D7"/>
                </a:solidFill>
                <a:latin typeface="Georgia"/>
              </a:rPr>
              <a:t>IOMU 2027 Logo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3246120"/>
            <a:ext cx="201168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69C54"/>
                </a:solidFill>
                <a:latin typeface="Calibri"/>
              </a:rPr>
              <a:t>19th Indonesian Occupational Medicine Updates · Solo · PERDOKI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E9D7"/>
                </a:solidFill>
                <a:latin typeface="Calibri"/>
              </a:rPr>
              <a:t>Three candidates for voting · Palette: Emerald Green &amp; Gold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1 · Healthy Worker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 2027 Emblem and 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120" y="1280160"/>
            <a:ext cx="6461760" cy="48463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20624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Figure: </a:t>
            </a:r>
            <a:r>
              <a:rPr b="0" sz="1200">
                <a:solidFill>
                  <a:srgbClr val="2B2B2B"/>
                </a:solidFill>
                <a:latin typeface="Calibri"/>
              </a:rPr>
              <a:t>An abstract worker with arms raised: a healthy, thriving workforce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Hard-hat head: </a:t>
            </a:r>
            <a:r>
              <a:rPr b="0" sz="1200">
                <a:solidFill>
                  <a:srgbClr val="2B2B2B"/>
                </a:solidFill>
                <a:latin typeface="Calibri"/>
              </a:rPr>
              <a:t>Occupational safety and the worker as the centre of the specialty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Rod of Asclepius: </a:t>
            </a:r>
            <a:r>
              <a:rPr b="0" sz="1200">
                <a:solidFill>
                  <a:srgbClr val="2B2B2B"/>
                </a:solidFill>
                <a:latin typeface="Calibri"/>
              </a:rPr>
              <a:t>Medicine, forming the figure's backbone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ribbon: </a:t>
            </a:r>
            <a:r>
              <a:rPr b="0" sz="1200">
                <a:solidFill>
                  <a:srgbClr val="2B2B2B"/>
                </a:solidFill>
                <a:latin typeface="Calibri"/>
              </a:rPr>
              <a:t>Solo batik in flowing emerald and gold bands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Ornament in the O: </a:t>
            </a:r>
            <a:r>
              <a:rPr b="0" sz="1200">
                <a:solidFill>
                  <a:srgbClr val="2B2B2B"/>
                </a:solidFill>
                <a:latin typeface="Calibri"/>
              </a:rPr>
              <a:t>Gold crest ornament inspired by Javanese carving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Serif wordmark: </a:t>
            </a:r>
            <a:r>
              <a:rPr b="0" sz="1200">
                <a:solidFill>
                  <a:srgbClr val="2B2B2B"/>
                </a:solidFill>
                <a:latin typeface="Calibri"/>
              </a:rPr>
              <a:t>Classic, formal, matches a scientific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2 · Kawung Cross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chatgpt_c2_kawung-cross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8046720" cy="4023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20624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Four kawung petals: </a:t>
            </a:r>
            <a:r>
              <a:rPr b="0" sz="1200">
                <a:solidFill>
                  <a:srgbClr val="2B2B2B"/>
                </a:solidFill>
                <a:latin typeface="Calibri"/>
              </a:rPr>
              <a:t>Arranged as a medical cross: health built on Javanese heritage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engraving: </a:t>
            </a:r>
            <a:r>
              <a:rPr b="0" sz="1200">
                <a:solidFill>
                  <a:srgbClr val="2B2B2B"/>
                </a:solidFill>
                <a:latin typeface="Calibri"/>
              </a:rPr>
              <a:t>Parang pattern inside each petal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b="0" sz="1200">
                <a:solidFill>
                  <a:srgbClr val="2B2B2B"/>
                </a:solidFill>
                <a:latin typeface="Calibri"/>
              </a:rPr>
              <a:t>Occupational safety and medicine at the centre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Crest above the M: </a:t>
            </a:r>
            <a:r>
              <a:rPr b="0" sz="1200">
                <a:solidFill>
                  <a:srgbClr val="2B2B2B"/>
                </a:solidFill>
                <a:latin typeface="Calibri"/>
              </a:rPr>
              <a:t>Ornament inspired by the carved crest of Keraton Surakarta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Sans-serif wordmark: </a:t>
            </a:r>
            <a:r>
              <a:rPr b="0" sz="1200">
                <a:solidFill>
                  <a:srgbClr val="2B2B2B"/>
                </a:solidFill>
                <a:latin typeface="Calibri"/>
              </a:rPr>
              <a:t>Modern, strong, highly legible at small sizes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Concept 3 · Gunungan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2027_merge_gunungan_serif-type_B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38977"/>
            <a:ext cx="8046720" cy="45286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778240" y="1600200"/>
            <a:ext cx="2880360" cy="4206240"/>
          </a:xfrm>
          <a:prstGeom prst="rect">
            <a:avLst/>
          </a:prstGeom>
          <a:solidFill>
            <a:srgbClr val="F4E9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783080"/>
            <a:ext cx="2606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Gunungan: </a:t>
            </a:r>
            <a:r>
              <a:rPr b="0" sz="1200">
                <a:solidFill>
                  <a:srgbClr val="2B2B2B"/>
                </a:solidFill>
                <a:latin typeface="Calibri"/>
              </a:rPr>
              <a:t>Wayang kulit tree of life; Solo is a centre of wayang tradition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Hard hat + rod: </a:t>
            </a:r>
            <a:r>
              <a:rPr b="0" sz="1200">
                <a:solidFill>
                  <a:srgbClr val="2B2B2B"/>
                </a:solidFill>
                <a:latin typeface="Calibri"/>
              </a:rPr>
              <a:t>Occupational safety and medicine inside the gunungan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Batik bands: </a:t>
            </a:r>
            <a:r>
              <a:rPr b="0" sz="1200">
                <a:solidFill>
                  <a:srgbClr val="2B2B2B"/>
                </a:solidFill>
                <a:latin typeface="Calibri"/>
              </a:rPr>
              <a:t>Parang engraving with gold scrollwork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Kawung in the O: </a:t>
            </a:r>
            <a:r>
              <a:rPr b="0" sz="1200">
                <a:solidFill>
                  <a:srgbClr val="2B2B2B"/>
                </a:solidFill>
                <a:latin typeface="Calibri"/>
              </a:rPr>
              <a:t>Solo batik; order and integrity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14940"/>
                </a:solidFill>
                <a:latin typeface="Calibri"/>
              </a:rPr>
              <a:t>Serif wordmark: </a:t>
            </a:r>
            <a:r>
              <a:rPr b="0" sz="1200">
                <a:solidFill>
                  <a:srgbClr val="2B2B2B"/>
                </a:solidFill>
                <a:latin typeface="Calibri"/>
              </a:rPr>
              <a:t>Classic, formal, matches a scientific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214940"/>
                </a:solidFill>
                <a:latin typeface="Georgia"/>
              </a:rPr>
              <a:t>Vote: which logo for IOMU 2027?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463040" cy="25400"/>
          </a:xfrm>
          <a:prstGeom prst="rect">
            <a:avLst/>
          </a:prstGeom>
          <a:solidFill>
            <a:srgbClr val="C69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OMU 2027 Emblem and 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3657599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1 · Healthy Worker</a:t>
            </a:r>
          </a:p>
        </p:txBody>
      </p:sp>
      <p:pic>
        <p:nvPicPr>
          <p:cNvPr id="6" name="Picture 5" descr="iomu2027_chatgpt_c2_kawung-cross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2194560"/>
            <a:ext cx="36576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1688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2 · Kawung Cross</a:t>
            </a:r>
          </a:p>
        </p:txBody>
      </p:sp>
      <p:pic>
        <p:nvPicPr>
          <p:cNvPr id="8" name="Picture 7" descr="iomu2027_merge_gunungan_serif-type_B_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079713"/>
            <a:ext cx="3657600" cy="20584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74736" y="4617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14940"/>
                </a:solidFill>
                <a:latin typeface="Georgia"/>
              </a:rPr>
              <a:t>3 · Gunungan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8070"/>
                </a:solidFill>
                <a:latin typeface="Calibri"/>
              </a:rPr>
              <a:t>Concept draft, AI-generated. The chosen logo will be redrawn as a clean vector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