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49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0">
                <a:solidFill>
                  <a:srgbClr val="F4E9D7"/>
                </a:solidFill>
                <a:latin typeface="Georgia"/>
              </a:rPr>
              <a:t>IOMU 2027 Logo Concepts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3246120"/>
            <a:ext cx="2011680" cy="25400"/>
          </a:xfrm>
          <a:prstGeom prst="rect">
            <a:avLst/>
          </a:prstGeom>
          <a:solidFill>
            <a:srgbClr val="C69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69C54"/>
                </a:solidFill>
                <a:latin typeface="Calibri"/>
              </a:rPr>
              <a:t>19th Indonesian Occupational Medicine Updates · Solo · PERDOKI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4E9D7"/>
                </a:solidFill>
                <a:latin typeface="Calibri"/>
              </a:rPr>
              <a:t>Four candidates for voting · Palette: Emerald Green &amp; Gold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214940"/>
                </a:solidFill>
                <a:latin typeface="Georgia"/>
              </a:rPr>
              <a:t>Concept 1 · Healthy Worker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0120"/>
            <a:ext cx="1463040" cy="25400"/>
          </a:xfrm>
          <a:prstGeom prst="rect">
            <a:avLst/>
          </a:prstGeom>
          <a:solidFill>
            <a:srgbClr val="C69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omu2027_chatgpt_c1_ribbon-figure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8046720" cy="4023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778240" y="1600200"/>
            <a:ext cx="2880360" cy="4023360"/>
          </a:xfrm>
          <a:prstGeom prst="rect">
            <a:avLst/>
          </a:prstGeom>
          <a:solidFill>
            <a:srgbClr val="F4E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15400" y="1783080"/>
            <a:ext cx="2606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200">
                <a:solidFill>
                  <a:srgbClr val="214940"/>
                </a:solidFill>
                <a:latin typeface="Calibri"/>
              </a:rPr>
              <a:t>Figure: </a:t>
            </a:r>
            <a:r>
              <a:rPr sz="1200">
                <a:solidFill>
                  <a:srgbClr val="2B2B2B"/>
                </a:solidFill>
                <a:latin typeface="Calibri"/>
              </a:rPr>
              <a:t>An abstract worker with arms raised: a healthy, thriving workforce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14940"/>
                </a:solidFill>
                <a:latin typeface="Calibri"/>
              </a:rPr>
              <a:t>Hard-hat head: </a:t>
            </a:r>
            <a:r>
              <a:rPr sz="1200">
                <a:solidFill>
                  <a:srgbClr val="2B2B2B"/>
                </a:solidFill>
                <a:latin typeface="Calibri"/>
              </a:rPr>
              <a:t>Occupational safety and the worker as the centre of the specialty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14940"/>
                </a:solidFill>
                <a:latin typeface="Calibri"/>
              </a:rPr>
              <a:t>Rod of Asclepius: </a:t>
            </a:r>
            <a:r>
              <a:rPr sz="1200">
                <a:solidFill>
                  <a:srgbClr val="2B2B2B"/>
                </a:solidFill>
                <a:latin typeface="Calibri"/>
              </a:rPr>
              <a:t>Medicine, forming the figure's backbone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14940"/>
                </a:solidFill>
                <a:latin typeface="Calibri"/>
              </a:rPr>
              <a:t>Parang ribbon: </a:t>
            </a:r>
            <a:r>
              <a:rPr sz="1200">
                <a:solidFill>
                  <a:srgbClr val="2B2B2B"/>
                </a:solidFill>
                <a:latin typeface="Calibri"/>
              </a:rPr>
              <a:t>Solo batik; parang stands for strength and unbroken continuity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14940"/>
                </a:solidFill>
                <a:latin typeface="Calibri"/>
              </a:rPr>
              <a:t>Kawung in the O: </a:t>
            </a:r>
            <a:r>
              <a:rPr sz="1200">
                <a:solidFill>
                  <a:srgbClr val="2B2B2B"/>
                </a:solidFill>
                <a:latin typeface="Calibri"/>
              </a:rPr>
              <a:t>Solo batik; order and integrity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8070"/>
                </a:solidFill>
                <a:latin typeface="Calibri"/>
              </a:rPr>
              <a:t>Concept draft, AI-generated. The chosen logo will be redrawn as a clean vector file.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214940"/>
                </a:solidFill>
                <a:latin typeface="Georgia"/>
              </a:rPr>
              <a:t>Concept 2 · Kawung Cross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0120"/>
            <a:ext cx="1463040" cy="25400"/>
          </a:xfrm>
          <a:prstGeom prst="rect">
            <a:avLst/>
          </a:prstGeom>
          <a:solidFill>
            <a:srgbClr val="C69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omu2027_chatgpt_c2_kawung-cross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8046720" cy="4023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778240" y="1600200"/>
            <a:ext cx="2880360" cy="4023360"/>
          </a:xfrm>
          <a:prstGeom prst="rect">
            <a:avLst/>
          </a:prstGeom>
          <a:solidFill>
            <a:srgbClr val="F4E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15400" y="1783080"/>
            <a:ext cx="2606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200">
                <a:solidFill>
                  <a:srgbClr val="214940"/>
                </a:solidFill>
                <a:latin typeface="Calibri"/>
              </a:rPr>
              <a:t>Four kawung petals: </a:t>
            </a:r>
            <a:r>
              <a:rPr sz="1200">
                <a:solidFill>
                  <a:srgbClr val="2B2B2B"/>
                </a:solidFill>
                <a:latin typeface="Calibri"/>
              </a:rPr>
              <a:t>Arranged as a medical cross: health built on Javanese heritage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14940"/>
                </a:solidFill>
                <a:latin typeface="Calibri"/>
              </a:rPr>
              <a:t>Batik engraving: </a:t>
            </a:r>
            <a:r>
              <a:rPr sz="1200">
                <a:solidFill>
                  <a:srgbClr val="2B2B2B"/>
                </a:solidFill>
                <a:latin typeface="Calibri"/>
              </a:rPr>
              <a:t>Parang pattern inside each petal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14940"/>
                </a:solidFill>
                <a:latin typeface="Calibri"/>
              </a:rPr>
              <a:t>Hard hat + rod: </a:t>
            </a:r>
            <a:r>
              <a:rPr sz="1200">
                <a:solidFill>
                  <a:srgbClr val="2B2B2B"/>
                </a:solidFill>
                <a:latin typeface="Calibri"/>
              </a:rPr>
              <a:t>Occupational safety and medicine at the centre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14940"/>
                </a:solidFill>
                <a:latin typeface="Calibri"/>
              </a:rPr>
              <a:t>Crest above the M: </a:t>
            </a:r>
            <a:r>
              <a:rPr sz="1200">
                <a:solidFill>
                  <a:srgbClr val="2B2B2B"/>
                </a:solidFill>
                <a:latin typeface="Calibri"/>
              </a:rPr>
              <a:t>Ornament inspired by the carved crest of Keraton Surakarta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14940"/>
                </a:solidFill>
                <a:latin typeface="Calibri"/>
              </a:rPr>
              <a:t>Sans-serif wordmark: </a:t>
            </a:r>
            <a:r>
              <a:rPr sz="1200">
                <a:solidFill>
                  <a:srgbClr val="2B2B2B"/>
                </a:solidFill>
                <a:latin typeface="Calibri"/>
              </a:rPr>
              <a:t>Modern, strong, highly legible at small sizes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8070"/>
                </a:solidFill>
                <a:latin typeface="Calibri"/>
              </a:rPr>
              <a:t>Concept draft, AI-generated. The chosen logo will be redrawn as a clean vector file.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214940"/>
                </a:solidFill>
                <a:latin typeface="Georgia"/>
              </a:rPr>
              <a:t>Concept 3 · Gunungan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0120"/>
            <a:ext cx="1463040" cy="25400"/>
          </a:xfrm>
          <a:prstGeom prst="rect">
            <a:avLst/>
          </a:prstGeom>
          <a:solidFill>
            <a:srgbClr val="C69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omu2027_chatgpt_c3_gunungan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8046720" cy="4023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778240" y="1600200"/>
            <a:ext cx="2880360" cy="4023360"/>
          </a:xfrm>
          <a:prstGeom prst="rect">
            <a:avLst/>
          </a:prstGeom>
          <a:solidFill>
            <a:srgbClr val="F4E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15400" y="1783080"/>
            <a:ext cx="2606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200">
                <a:solidFill>
                  <a:srgbClr val="214940"/>
                </a:solidFill>
                <a:latin typeface="Calibri"/>
              </a:rPr>
              <a:t>Gunungan: </a:t>
            </a:r>
            <a:r>
              <a:rPr sz="1200">
                <a:solidFill>
                  <a:srgbClr val="2B2B2B"/>
                </a:solidFill>
                <a:latin typeface="Calibri"/>
              </a:rPr>
              <a:t>Wayang kulit tree of life; Solo is a centre of wayang tradition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14940"/>
                </a:solidFill>
                <a:latin typeface="Calibri"/>
              </a:rPr>
              <a:t>Hard hat + rod: </a:t>
            </a:r>
            <a:r>
              <a:rPr sz="1200">
                <a:solidFill>
                  <a:srgbClr val="2B2B2B"/>
                </a:solidFill>
                <a:latin typeface="Calibri"/>
              </a:rPr>
              <a:t>Occupational safety and medicine inside the gunungan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14940"/>
                </a:solidFill>
                <a:latin typeface="Calibri"/>
              </a:rPr>
              <a:t>Batik bands: </a:t>
            </a:r>
            <a:r>
              <a:rPr sz="1200">
                <a:solidFill>
                  <a:srgbClr val="2B2B2B"/>
                </a:solidFill>
                <a:latin typeface="Calibri"/>
              </a:rPr>
              <a:t>Semen rante and parang engraving with gold scrollwork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14940"/>
                </a:solidFill>
                <a:latin typeface="Calibri"/>
              </a:rPr>
              <a:t>Kawung in the O: </a:t>
            </a:r>
            <a:r>
              <a:rPr sz="1200">
                <a:solidFill>
                  <a:srgbClr val="2B2B2B"/>
                </a:solidFill>
                <a:latin typeface="Calibri"/>
              </a:rPr>
              <a:t>Solo batik; order and integrity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14940"/>
                </a:solidFill>
                <a:latin typeface="Calibri"/>
              </a:rPr>
              <a:t>Serif wordmark: </a:t>
            </a:r>
            <a:r>
              <a:rPr sz="1200">
                <a:solidFill>
                  <a:srgbClr val="2B2B2B"/>
                </a:solidFill>
                <a:latin typeface="Calibri"/>
              </a:rPr>
              <a:t>Classic, formal, matches a scientific meeting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8070"/>
                </a:solidFill>
                <a:latin typeface="Calibri"/>
              </a:rPr>
              <a:t>Concept draft, AI-generated. The chosen logo will be redrawn as a clean vector file.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214940"/>
                </a:solidFill>
                <a:latin typeface="Georgia"/>
              </a:rPr>
              <a:t>Concept 4 · Healthy Worker × Kawung 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0120"/>
            <a:ext cx="1463040" cy="25400"/>
          </a:xfrm>
          <a:prstGeom prst="rect">
            <a:avLst/>
          </a:prstGeom>
          <a:solidFill>
            <a:srgbClr val="C69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omu2027_merge_c1-symbol_c2-type_B_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8046720" cy="4023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778240" y="1600200"/>
            <a:ext cx="2880360" cy="4023360"/>
          </a:xfrm>
          <a:prstGeom prst="rect">
            <a:avLst/>
          </a:prstGeom>
          <a:solidFill>
            <a:srgbClr val="F4E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15400" y="1783080"/>
            <a:ext cx="2606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200">
                <a:solidFill>
                  <a:srgbClr val="214940"/>
                </a:solidFill>
                <a:latin typeface="Calibri"/>
              </a:rPr>
              <a:t>Symbol from Concept 1: </a:t>
            </a:r>
            <a:r>
              <a:rPr sz="1200">
                <a:solidFill>
                  <a:srgbClr val="2B2B2B"/>
                </a:solidFill>
                <a:latin typeface="Calibri"/>
              </a:rPr>
              <a:t>Thriving worker with hard-hat head, rod of Asclepius and parang ribbon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14940"/>
                </a:solidFill>
                <a:latin typeface="Calibri"/>
              </a:rPr>
              <a:t>Type from Concept 2: </a:t>
            </a:r>
            <a:r>
              <a:rPr sz="1200">
                <a:solidFill>
                  <a:srgbClr val="2B2B2B"/>
                </a:solidFill>
                <a:latin typeface="Calibri"/>
              </a:rPr>
              <a:t>Bold geometric sans wordmark: modern and legible at small sizes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14940"/>
                </a:solidFill>
                <a:latin typeface="Calibri"/>
              </a:rPr>
              <a:t>Crest above the M: </a:t>
            </a:r>
            <a:r>
              <a:rPr sz="1200">
                <a:solidFill>
                  <a:srgbClr val="2B2B2B"/>
                </a:solidFill>
                <a:latin typeface="Calibri"/>
              </a:rPr>
              <a:t>Ornament inspired by the carved crest of Keraton Surakarta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14940"/>
                </a:solidFill>
                <a:latin typeface="Calibri"/>
              </a:rPr>
              <a:t>Gold rules: </a:t>
            </a:r>
            <a:r>
              <a:rPr sz="1200">
                <a:solidFill>
                  <a:srgbClr val="2B2B2B"/>
                </a:solidFill>
                <a:latin typeface="Calibri"/>
              </a:rPr>
              <a:t>Frame the full name and SOLO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8070"/>
                </a:solidFill>
                <a:latin typeface="Calibri"/>
              </a:rPr>
              <a:t>Concept draft, AI-generated. The chosen logo will be redrawn as a clean vector file.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214940"/>
                </a:solidFill>
                <a:latin typeface="Georgia"/>
              </a:rPr>
              <a:t>Vote: which logo for IOMU 2027?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0120"/>
            <a:ext cx="1463040" cy="25400"/>
          </a:xfrm>
          <a:prstGeom prst="rect">
            <a:avLst/>
          </a:prstGeom>
          <a:solidFill>
            <a:srgbClr val="C69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omu2027_chatgpt_c1_ribbon-figure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77440"/>
            <a:ext cx="2697480" cy="13487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88620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14940"/>
                </a:solidFill>
                <a:latin typeface="Georgia"/>
              </a:rPr>
              <a:t>1 · Healthy Worker</a:t>
            </a:r>
          </a:p>
        </p:txBody>
      </p:sp>
      <p:pic>
        <p:nvPicPr>
          <p:cNvPr id="6" name="Picture 5" descr="iomu2027_chatgpt_c2_kawung-cross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992" y="2377440"/>
            <a:ext cx="2697480" cy="13487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64992" y="388620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14940"/>
                </a:solidFill>
                <a:latin typeface="Georgia"/>
              </a:rPr>
              <a:t>2 · Kawung Cross</a:t>
            </a:r>
          </a:p>
        </p:txBody>
      </p:sp>
      <p:pic>
        <p:nvPicPr>
          <p:cNvPr id="8" name="Picture 7" descr="iomu2027_chatgpt_c3_gunungan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2377440"/>
            <a:ext cx="2697480" cy="13487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81344" y="388620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14940"/>
                </a:solidFill>
                <a:latin typeface="Georgia"/>
              </a:rPr>
              <a:t>3 · Gunungan</a:t>
            </a:r>
          </a:p>
        </p:txBody>
      </p:sp>
      <p:pic>
        <p:nvPicPr>
          <p:cNvPr id="10" name="Picture 9" descr="iomu2027_merge_c1-symbol_c2-type_B_v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7696" y="2377440"/>
            <a:ext cx="2697480" cy="13487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997696" y="388620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14940"/>
                </a:solidFill>
                <a:latin typeface="Georgia"/>
              </a:rPr>
              <a:t>4 · Healthy Worker × Kawung 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8070"/>
                </a:solidFill>
                <a:latin typeface="Calibri"/>
              </a:rPr>
              <a:t>Concept draft, AI-generated. The chosen logo will be redrawn as a clean vector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